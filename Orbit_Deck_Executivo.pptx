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40"/>
          </a:solidFill>
          <a:ln w="12700">
            <a:solidFill>
              <a:srgbClr val="0E1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Marketing &amp; Google Ads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ICP B2B: empresas R$ 500k+/mês e 30+ funcionários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mensal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+ Meta)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42062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4343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20440" y="5212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atacados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Fase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4343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5212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42062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4343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915400" y="5212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cobrir nas próximas 30 minutos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73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atual, problemas, oportunidades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73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1343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313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atualizado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334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B2B 500k+/30+ muda tudo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73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723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0723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por módulo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92424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módulos prioritários + Canal Orbit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31336"/>
            <a:ext cx="73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313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8313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operacional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15137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R$ 15k → R$ 60k, arquitetura, métricas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90288"/>
            <a:ext cx="73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902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5902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90 dias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91032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lançamento, otimização, decisão de escala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49240"/>
            <a:ext cx="73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349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5349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próximos passos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669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para começar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— onde estamos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Google Ads dos últimos 30 dias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Conversões na campanha de aquisição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46704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25400">
            <a:solidFill>
              <a:srgbClr val="BF8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46704" y="16916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46704" y="24688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vêm da marca (Defesa)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6208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6916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R$ 1.223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6208" y="24688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Queimados em Search sem retorno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25712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25712" y="16916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R$ 282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25712" y="24688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médio atual (só de marca)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Problemas-chave identificados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Correspondência ampla excessiva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8862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puxando 'sistema barbearia', 'sap', 'kanban gratis' — público fora do ICP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480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segmentação por módulo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44805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'gestão' genérica não fala com decisor de empresa 30+ pessoas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07492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5074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Negativadas quase inexistentes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50749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entra sem filtro: educacional, carreira, micro/B2C, ferramentas erradas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66928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669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5669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converte só para 'Entrar'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56692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mostra 14% dos cliques no login (cliente atual), não em CTA comercial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atual está atraindo gente fora do ICP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1.389 leads dos funis Canal Orbit + Orbit B2B no CRM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5F7FB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ORBIT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Consultorias 100k+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total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no ICP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ativos perseguíveis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perdidos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40080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5F7FB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91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B2B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500k+/30+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total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no ICP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7512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ativos perseguíveis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67512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perdidos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o problema é qualidade de topo de funil. Mais de 60% do budget está pagando por leads que nunca vão fechar.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NOVO ICP B2B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E headcount — corte HARD, não negociável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0E1640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R$ 500k+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mês de faturamento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estruturada saindo do caos do crescimento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64592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0E1640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18288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245352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5352" y="3520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passou do ponto em que planilha + Trello bastam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Decisores-alvo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074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Sócio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50749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5074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50749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5074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98280" y="50749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5074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de RH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7150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715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Comercial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57150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5715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de Operações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57150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5715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de Estratégia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módulos prioritários — Fase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com dor, decisor, mensagem e palavra-chave próprios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/ Olívia 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no escuro, DRE atrasado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Decisor: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/ Sócio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5544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6459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6052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 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no WhatsApp, sem funil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Decisor: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Comercial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6459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 / BSC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que não sai do papel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Decisor: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Sócio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98280" y="15544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89720" y="16459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92124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/ KPIs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8116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8116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no feeling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8116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Decisor: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8116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CFO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280160" y="4160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/ BPM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4892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5166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na cabeça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5623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Decisor: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5897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/ Qualidade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3756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29000" y="41148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160520" y="4160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/ RH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520440" y="4892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20440" y="5166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na planilha estourou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520440" y="5623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Decisor: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520440" y="5897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RH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1792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9360" y="41148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040880" y="4160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/ PMO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00800" y="4892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0" y="5166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atrasam às escuras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400800" y="5623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Decisor: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5897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/ COO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09828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98280" y="4206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ORBIT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9281160" y="4800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independente: consultorias 100k+/mês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281160" y="5440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completamente diferente: escala via plataforma, não via headcount.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mídia — Fase 1 (R$ 15k/mês)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Validamos no Google antes de abrir Meta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Search Financeiro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0" y="1463040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1463040"/>
            <a:ext cx="5943600" cy="2011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R$ 2.200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282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Search CRM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773936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1773936"/>
            <a:ext cx="5943600" cy="2011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0" y="17282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R$ 2.200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039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Search Estratégico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2084832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2084832"/>
            <a:ext cx="4052455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20391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R$ 1.500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350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Search Plataforma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2395728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2395728"/>
            <a:ext cx="4052455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2350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R$ 1.500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660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Search Indicadores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2706624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2706624"/>
            <a:ext cx="3512127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26609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R$ 1.300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Search Processos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0" y="3017520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3017520"/>
            <a:ext cx="3512127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R$ 1.300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2826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Search Pessoas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0" y="3328416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3328416"/>
            <a:ext cx="3512127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32826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R$ 1.300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593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Search Projetos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0" y="3639312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23360" y="3639312"/>
            <a:ext cx="2701636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0" y="3593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904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Pmax Topo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23360" y="3950208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950208"/>
            <a:ext cx="3241964" cy="201168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0" y="3904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R$ 1.200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215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ORB-CANAL Search Consultoria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23360" y="4261104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4261104"/>
            <a:ext cx="2161309" cy="2011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0" y="4215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526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ORB-YouTube Demand Gen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023360" y="4572000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3360" y="4572000"/>
            <a:ext cx="1620982" cy="201168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4837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Remarketing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023360" y="4882896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4882896"/>
            <a:ext cx="1350818" cy="201168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0" y="48371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5148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ORB-B2B Defesa Marca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023360" y="5193792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23360" y="5193792"/>
            <a:ext cx="1080655" cy="201168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0" y="5148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54589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ORB-CANAL Defesa Marca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023360" y="5504688"/>
            <a:ext cx="5943600" cy="20116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23360" y="5504688"/>
            <a:ext cx="540327" cy="201168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0" y="5458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5989320"/>
            <a:ext cx="1124712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598932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R$ 15.000/mês | CPA-alvo médio: R$ 176 | Meta: 55 leads PCI/mês | Restam R$ 45k em reserva para Meta na Fase 2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mês a mês — Fase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aprendizagem do Google. CPA cai conforme algoritmo treina.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97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médio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R$ 375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PCI/mês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5544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554480"/>
            <a:ext cx="2697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médio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R$ 230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20440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PCI/mês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520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520440" y="4206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4480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520440" y="5212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Estabilizando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554480"/>
            <a:ext cx="2697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médio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R$ 176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0800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PCI/mês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520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400800" y="4206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480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400800" y="5212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98280" y="15544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98280" y="1554480"/>
            <a:ext cx="2697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28116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médio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8116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281160" y="3246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PCI/mês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81160" y="3520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9281160" y="4206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81160" y="4480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9281160" y="5212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Premissa: chat Olívia qualifica 65% como PCI até o mês 3; demo → cliente em 20% (conservador).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urgentes — site + tracking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Coisas que destravam resultado antes mesmo da campanha nova subir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640080" cy="1417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16200000">
            <a:off x="457200" y="1508760"/>
            <a:ext cx="640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mobile fechando antes da hora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fechar é o mais clicado no mobile — trocar por banner não-modal ou disparar só após 15s+30% scroll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108960"/>
            <a:ext cx="640080" cy="1417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16200000">
            <a:off x="457200" y="3108960"/>
            <a:ext cx="640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comercial perde para 'Entrar'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'Entrar' tem 14% dos cliques (cliente atual). Precisa diferenciar visualmente o CTA de DEMO.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709160"/>
            <a:ext cx="640080" cy="1417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16200000">
            <a:off x="457200" y="4709160"/>
            <a:ext cx="640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não retém scroll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52578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saem nos primeiros 5%. Refazer com promessa direta + prova social (3.045+ empresas).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508760"/>
            <a:ext cx="640080" cy="1417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 rot="16200000">
            <a:off x="6217920" y="1508760"/>
            <a:ext cx="640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5 conversões no GA4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20574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demo_agendada, chat_qualificou_pci, form_lead, chat_abriu, video_demo_60s — Google otimiza pelo evento certo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1089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108960"/>
            <a:ext cx="640080" cy="1417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 rot="16200000">
            <a:off x="6217920" y="3108960"/>
            <a:ext cx="640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conteúdo do meio para o topo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atenção em 55-65% de scroll está escondido. Provavelmente módulos. Subir para 30-40%.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7091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709160"/>
            <a:ext cx="640080" cy="1417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 rot="16200000">
            <a:off x="6217920" y="4709160"/>
            <a:ext cx="640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na seção #custo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52578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comparam preço. Mostrar economia 'Orbit vs Trello+Pipedrive+ContaAzul+RH separados'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90 dias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com gates de decisão para escalar com confiança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0E1640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9748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1-7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194 negativadas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8269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match ampla atual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0507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593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5 eventos conv.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681728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6360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Customer Match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358384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312664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pop-up mobile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155448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0E16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155448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600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8-30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1965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520440" y="26517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14 campanhas novas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33284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28269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keywords + 9 sets de copy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0440" y="400507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9593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Pmax com sinais de público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20440" y="46817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46360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roteiros YouTube ativos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20440" y="535838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5312664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 termos de pesquisa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55448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0E1640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554480"/>
            <a:ext cx="269748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600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31-60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17920" y="1965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00800" y="2651760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KWs com 50+ cliques e 0 conv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3328416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328269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Realocar budget por CPA real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4005072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39593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audiência lookalike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4681728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46360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em 3 melhores headlines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0" y="5358384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5312664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semanal de pipeline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098280" y="155448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0E1640"/>
          </a:solidFill>
          <a:ln w="25400">
            <a:solidFill>
              <a:srgbClr val="BF8F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98280" y="1554480"/>
            <a:ext cx="2697480" cy="82296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98280" y="1600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61-90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098280" y="1965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9281160" y="2651760"/>
            <a:ext cx="164592" cy="164592"/>
          </a:xfrm>
          <a:prstGeom prst="ellipse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0976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estabilizou?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281160" y="3328416"/>
            <a:ext cx="164592" cy="164592"/>
          </a:xfrm>
          <a:prstGeom prst="ellipse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09760" y="328269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PCI &gt; 50%?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281160" y="4005072"/>
            <a:ext cx="164592" cy="164592"/>
          </a:xfrm>
          <a:prstGeom prst="ellipse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09760" y="39593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agendada &gt; 25/mês?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281160" y="4681728"/>
            <a:ext cx="164592" cy="164592"/>
          </a:xfrm>
          <a:prstGeom prst="ellipse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09760" y="46360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SIM → abrir Meta + escalar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281160" y="5358384"/>
            <a:ext cx="164592" cy="164592"/>
          </a:xfrm>
          <a:prstGeom prst="ellipse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09760" y="5312664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→ diagnóstico profundo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campanhas — 14 campanhas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Convenção: ORB-[FUNIL]-[TIPO]-[MÓDULO] | 35 ad groups | 190 palavras-chave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858000" cy="4572000"/>
          </a:xfrm>
          <a:prstGeom prst="roundRect">
            <a:avLst>
              <a:gd name="adj" fmla="val 160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6858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B2B (R$ 500k+/mês • 30+ func)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Financeiro       • 4 ad groups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CRM              • 4 ad groups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Estratégico/BSC  • 3 ad groups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Indicadores      • 3 ad groups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Processos        • 3 ad groups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Pessoas/RH       • 4 ad groups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Projetos         • 3 ad groups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Plataforma (umbrella) • 3 AGs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Pmax Topo               • 1 asset grp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 Demand Gen      • 2 vídeos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3492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Remarketing (visitantes + chat abandono)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Defesa de Marca         • brand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155448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F5F7FB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554480"/>
            <a:ext cx="420624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554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ORBIT (consultorias 100k+)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2148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Plataforma p/ Consultoria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2606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Consultoria de Gestão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063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Consultoria ISO/BPM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3520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Defesa Marca Canal (Templum)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5720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diferente: escala via plataforma, não via consultor.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pronto para você executar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já está nos arquivos companion. Você cola direto no Google Ads.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módulo + match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297680" y="27432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138160" y="27432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RSA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H + 4 D cada)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 w="25400">
            <a:solidFill>
              <a:srgbClr val="BF8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40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15/30/60s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65760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3840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297680" y="4846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Audiências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exclusões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65760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3840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138160" y="4846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(site)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Orbit_Workbook_Operacional_GoogleAds.xlsx | 📄 Orbit_Playbook_Estrategico.docx | 🎯 Este deck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a monitorar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Coisas que podem travar o resultado mesmo com a campanha certa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57200" cy="1005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91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Olívia como gargalo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IA não estiver bem treinada para qualificar 500k+/30+, todo investimento em mídia se perde. AÇÃO: auditar 50 conversas antes de subir campanhas.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97480"/>
            <a:ext cx="457200" cy="100584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834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baixo em palavras nichadas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'BSC software' tem volume pequeno. AÇÃO: combinar com 'planejamento estratégico software' + Pmax para ganhar escala.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457200" cy="100584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77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LP por módulo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343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cai em ad group específico mandando para home. AÇÃO: criar 3 LPs (Financeiro, CRM, Estratégico) na Fase 1.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98348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983480"/>
            <a:ext cx="457200" cy="100584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120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em KWs amplas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486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TOTVS, Bling, ContaAzul disputam 'sistema gestão'. AÇÃO: priorizar long-tail ICP ('sistema gestão 50 funcionários', 'erp médio porte').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40"/>
          </a:solidFill>
          <a:ln w="12700">
            <a:solidFill>
              <a:srgbClr val="0E1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— esta semana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este plano com diretoria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240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budget, ICP duro e cronograma. Definir responsável por campanha.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chat Olívia + configurar conversões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50 conversas. Configurar 5 eventos no GA4. Importar como conversões no Google Ads.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4592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negativadas + pausar campanha atual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886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master de 194 termos na conta inteira. Pausar ad groups com correspondência ampla puxando lixo.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estrutura nova no Google Ads Editor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14 campanhas + 35 ad groups + 190 keywords + 9 RSAs direto da planilha companion.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20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4592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de site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pop-up mobile, reescrever hero, configurar tags de remarketing por módulo.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GESTÃO — Estratégia de Marketing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 Gestão — Estratégia de Marketing 2026</dc:title>
  <dc:subject>PptxGenJS Presentation</dc:subject>
  <dc:creator>Marketing / Orbit Gestão</dc:creator>
  <cp:lastModifiedBy>Marketing / Orbit Gestão</cp:lastModifiedBy>
  <cp:revision>1</cp:revision>
  <dcterms:created xsi:type="dcterms:W3CDTF">2026-05-20T15:00:47Z</dcterms:created>
  <dcterms:modified xsi:type="dcterms:W3CDTF">2026-05-20T15:00:47Z</dcterms:modified>
</cp:coreProperties>
</file>